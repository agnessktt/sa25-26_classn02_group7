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</p:sldIdLst>
  <p:sldSz cx="18288000" cy="10287000"/>
  <p:notesSz cx="6858000" cy="9144000"/>
  <p:embeddedFontLs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9E924-385B-4E19-96C1-4CE0B22D2EF9}" v="6" dt="2026-02-05T04:47:40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eu Trang" userId="5328ddf0-b8c7-4bba-ad6b-017a18ae336b" providerId="ADAL" clId="{9FA9E924-385B-4E19-96C1-4CE0B22D2EF9}"/>
    <pc:docChg chg="custSel addSld modSld">
      <pc:chgData name="Le Thi Kieu Trang" userId="5328ddf0-b8c7-4bba-ad6b-017a18ae336b" providerId="ADAL" clId="{9FA9E924-385B-4E19-96C1-4CE0B22D2EF9}" dt="2026-02-05T04:48:08.788" v="47" actId="1076"/>
      <pc:docMkLst>
        <pc:docMk/>
      </pc:docMkLst>
      <pc:sldChg chg="modSp mod">
        <pc:chgData name="Le Thi Kieu Trang" userId="5328ddf0-b8c7-4bba-ad6b-017a18ae336b" providerId="ADAL" clId="{9FA9E924-385B-4E19-96C1-4CE0B22D2EF9}" dt="2026-02-05T04:45:09.495" v="0" actId="1076"/>
        <pc:sldMkLst>
          <pc:docMk/>
          <pc:sldMk cId="0" sldId="268"/>
        </pc:sldMkLst>
        <pc:spChg chg="mod">
          <ac:chgData name="Le Thi Kieu Trang" userId="5328ddf0-b8c7-4bba-ad6b-017a18ae336b" providerId="ADAL" clId="{9FA9E924-385B-4E19-96C1-4CE0B22D2EF9}" dt="2026-02-05T04:45:09.495" v="0" actId="1076"/>
          <ac:spMkLst>
            <pc:docMk/>
            <pc:sldMk cId="0" sldId="268"/>
            <ac:spMk id="19" creationId="{00000000-0000-0000-0000-000000000000}"/>
          </ac:spMkLst>
        </pc:spChg>
      </pc:sldChg>
      <pc:sldChg chg="addSp delSp modSp add mod">
        <pc:chgData name="Le Thi Kieu Trang" userId="5328ddf0-b8c7-4bba-ad6b-017a18ae336b" providerId="ADAL" clId="{9FA9E924-385B-4E19-96C1-4CE0B22D2EF9}" dt="2026-02-05T04:47:32.243" v="34" actId="255"/>
        <pc:sldMkLst>
          <pc:docMk/>
          <pc:sldMk cId="2696628951" sldId="271"/>
        </pc:sldMkLst>
        <pc:spChg chg="del topLvl">
          <ac:chgData name="Le Thi Kieu Trang" userId="5328ddf0-b8c7-4bba-ad6b-017a18ae336b" providerId="ADAL" clId="{9FA9E924-385B-4E19-96C1-4CE0B22D2EF9}" dt="2026-02-05T04:45:25.786" v="4" actId="478"/>
          <ac:spMkLst>
            <pc:docMk/>
            <pc:sldMk cId="2696628951" sldId="271"/>
            <ac:spMk id="6" creationId="{00000000-0000-0000-0000-000000000000}"/>
          </ac:spMkLst>
        </pc:spChg>
        <pc:spChg chg="del topLvl">
          <ac:chgData name="Le Thi Kieu Trang" userId="5328ddf0-b8c7-4bba-ad6b-017a18ae336b" providerId="ADAL" clId="{9FA9E924-385B-4E19-96C1-4CE0B22D2EF9}" dt="2026-02-05T04:45:28.656" v="5" actId="21"/>
          <ac:spMkLst>
            <pc:docMk/>
            <pc:sldMk cId="2696628951" sldId="271"/>
            <ac:spMk id="7" creationId="{00000000-0000-0000-0000-000000000000}"/>
          </ac:spMkLst>
        </pc:spChg>
        <pc:spChg chg="mod">
          <ac:chgData name="Le Thi Kieu Trang" userId="5328ddf0-b8c7-4bba-ad6b-017a18ae336b" providerId="ADAL" clId="{9FA9E924-385B-4E19-96C1-4CE0B22D2EF9}" dt="2026-02-05T04:47:03.909" v="29" actId="122"/>
          <ac:spMkLst>
            <pc:docMk/>
            <pc:sldMk cId="2696628951" sldId="271"/>
            <ac:spMk id="18" creationId="{00000000-0000-0000-0000-000000000000}"/>
          </ac:spMkLst>
        </pc:spChg>
        <pc:spChg chg="del mod">
          <ac:chgData name="Le Thi Kieu Trang" userId="5328ddf0-b8c7-4bba-ad6b-017a18ae336b" providerId="ADAL" clId="{9FA9E924-385B-4E19-96C1-4CE0B22D2EF9}" dt="2026-02-05T04:45:21.713" v="3" actId="21"/>
          <ac:spMkLst>
            <pc:docMk/>
            <pc:sldMk cId="2696628951" sldId="271"/>
            <ac:spMk id="19" creationId="{00000000-0000-0000-0000-000000000000}"/>
          </ac:spMkLst>
        </pc:spChg>
        <pc:spChg chg="add mod">
          <ac:chgData name="Le Thi Kieu Trang" userId="5328ddf0-b8c7-4bba-ad6b-017a18ae336b" providerId="ADAL" clId="{9FA9E924-385B-4E19-96C1-4CE0B22D2EF9}" dt="2026-02-05T04:47:32.243" v="34" actId="255"/>
          <ac:spMkLst>
            <pc:docMk/>
            <pc:sldMk cId="2696628951" sldId="271"/>
            <ac:spMk id="27" creationId="{ABC07A25-3F5A-97C9-6B0E-11369EB4372B}"/>
          </ac:spMkLst>
        </pc:spChg>
        <pc:grpChg chg="del">
          <ac:chgData name="Le Thi Kieu Trang" userId="5328ddf0-b8c7-4bba-ad6b-017a18ae336b" providerId="ADAL" clId="{9FA9E924-385B-4E19-96C1-4CE0B22D2EF9}" dt="2026-02-05T04:45:25.786" v="4" actId="478"/>
          <ac:grpSpMkLst>
            <pc:docMk/>
            <pc:sldMk cId="2696628951" sldId="271"/>
            <ac:grpSpMk id="5" creationId="{00000000-0000-0000-0000-000000000000}"/>
          </ac:grpSpMkLst>
        </pc:grpChg>
        <pc:picChg chg="add mod">
          <ac:chgData name="Le Thi Kieu Trang" userId="5328ddf0-b8c7-4bba-ad6b-017a18ae336b" providerId="ADAL" clId="{9FA9E924-385B-4E19-96C1-4CE0B22D2EF9}" dt="2026-02-05T04:46:50.353" v="26" actId="14100"/>
          <ac:picMkLst>
            <pc:docMk/>
            <pc:sldMk cId="2696628951" sldId="271"/>
            <ac:picMk id="24" creationId="{C42F0CC4-6A45-A22B-A1FC-0E40386F3B7D}"/>
          </ac:picMkLst>
        </pc:picChg>
        <pc:picChg chg="add mod">
          <ac:chgData name="Le Thi Kieu Trang" userId="5328ddf0-b8c7-4bba-ad6b-017a18ae336b" providerId="ADAL" clId="{9FA9E924-385B-4E19-96C1-4CE0B22D2EF9}" dt="2026-02-05T04:46:47.950" v="25" actId="14100"/>
          <ac:picMkLst>
            <pc:docMk/>
            <pc:sldMk cId="2696628951" sldId="271"/>
            <ac:picMk id="26" creationId="{E6AF0CF4-BDA2-C692-C098-071936D1C391}"/>
          </ac:picMkLst>
        </pc:picChg>
      </pc:sldChg>
      <pc:sldChg chg="addSp modSp add mod">
        <pc:chgData name="Le Thi Kieu Trang" userId="5328ddf0-b8c7-4bba-ad6b-017a18ae336b" providerId="ADAL" clId="{9FA9E924-385B-4E19-96C1-4CE0B22D2EF9}" dt="2026-02-05T04:48:08.788" v="47" actId="1076"/>
        <pc:sldMkLst>
          <pc:docMk/>
          <pc:sldMk cId="136827047" sldId="272"/>
        </pc:sldMkLst>
        <pc:spChg chg="add mod">
          <ac:chgData name="Le Thi Kieu Trang" userId="5328ddf0-b8c7-4bba-ad6b-017a18ae336b" providerId="ADAL" clId="{9FA9E924-385B-4E19-96C1-4CE0B22D2EF9}" dt="2026-02-05T04:45:38.384" v="8"/>
          <ac:spMkLst>
            <pc:docMk/>
            <pc:sldMk cId="136827047" sldId="272"/>
            <ac:spMk id="7" creationId="{00000000-0000-0000-0000-000000000000}"/>
          </ac:spMkLst>
        </pc:spChg>
        <pc:spChg chg="mod">
          <ac:chgData name="Le Thi Kieu Trang" userId="5328ddf0-b8c7-4bba-ad6b-017a18ae336b" providerId="ADAL" clId="{9FA9E924-385B-4E19-96C1-4CE0B22D2EF9}" dt="2026-02-05T04:48:05.986" v="46" actId="14100"/>
          <ac:spMkLst>
            <pc:docMk/>
            <pc:sldMk cId="136827047" sldId="272"/>
            <ac:spMk id="18" creationId="{00000000-0000-0000-0000-000000000000}"/>
          </ac:spMkLst>
        </pc:spChg>
        <pc:picChg chg="add mod">
          <ac:chgData name="Le Thi Kieu Trang" userId="5328ddf0-b8c7-4bba-ad6b-017a18ae336b" providerId="ADAL" clId="{9FA9E924-385B-4E19-96C1-4CE0B22D2EF9}" dt="2026-02-05T04:48:08.788" v="47" actId="1076"/>
          <ac:picMkLst>
            <pc:docMk/>
            <pc:sldMk cId="136827047" sldId="272"/>
            <ac:picMk id="6" creationId="{E8E297EA-3581-6046-0118-9C30550B70B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02759" y="6802807"/>
            <a:ext cx="5402508" cy="540250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w="38100" cap="flat">
            <a:solidFill>
              <a:srgbClr val="1772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785978" y="1231643"/>
            <a:ext cx="4758515" cy="475851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972039" y="656036"/>
            <a:ext cx="1241303" cy="575606"/>
            <a:chOff x="0" y="0"/>
            <a:chExt cx="326928" cy="15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6928" cy="151600"/>
            </a:xfrm>
            <a:custGeom>
              <a:avLst/>
              <a:gdLst/>
              <a:ahLst/>
              <a:cxnLst/>
              <a:rect l="l" t="t" r="r" b="b"/>
              <a:pathLst>
                <a:path w="326928" h="151600">
                  <a:moveTo>
                    <a:pt x="75800" y="0"/>
                  </a:moveTo>
                  <a:lnTo>
                    <a:pt x="251128" y="0"/>
                  </a:lnTo>
                  <a:cubicBezTo>
                    <a:pt x="292991" y="0"/>
                    <a:pt x="326928" y="33937"/>
                    <a:pt x="326928" y="75800"/>
                  </a:cubicBezTo>
                  <a:lnTo>
                    <a:pt x="326928" y="75800"/>
                  </a:lnTo>
                  <a:cubicBezTo>
                    <a:pt x="326928" y="117663"/>
                    <a:pt x="292991" y="151600"/>
                    <a:pt x="251128" y="151600"/>
                  </a:cubicBezTo>
                  <a:lnTo>
                    <a:pt x="75800" y="151600"/>
                  </a:lnTo>
                  <a:cubicBezTo>
                    <a:pt x="33937" y="151600"/>
                    <a:pt x="0" y="117663"/>
                    <a:pt x="0" y="75800"/>
                  </a:cubicBezTo>
                  <a:lnTo>
                    <a:pt x="0" y="75800"/>
                  </a:lnTo>
                  <a:cubicBezTo>
                    <a:pt x="0" y="33937"/>
                    <a:pt x="33937" y="0"/>
                    <a:pt x="75800" y="0"/>
                  </a:cubicBez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26928" cy="218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275918" y="793769"/>
            <a:ext cx="633545" cy="300142"/>
          </a:xfrm>
          <a:custGeom>
            <a:avLst/>
            <a:gdLst/>
            <a:ahLst/>
            <a:cxnLst/>
            <a:rect l="l" t="t" r="r" b="b"/>
            <a:pathLst>
              <a:path w="633545" h="300142">
                <a:moveTo>
                  <a:pt x="0" y="0"/>
                </a:moveTo>
                <a:lnTo>
                  <a:pt x="633545" y="0"/>
                </a:lnTo>
                <a:lnTo>
                  <a:pt x="633545" y="300141"/>
                </a:lnTo>
                <a:lnTo>
                  <a:pt x="0" y="30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12282" y="1632281"/>
            <a:ext cx="14166687" cy="639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ACADEMIC MANAGEMENT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658" y="8920974"/>
            <a:ext cx="2012164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9"/>
              </a:lnSpc>
            </a:pPr>
            <a:r>
              <a:rPr lang="en-US" sz="1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TRIEU TIEN QUYNH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9734" y="8920974"/>
            <a:ext cx="2725663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9"/>
              </a:lnSpc>
            </a:pPr>
            <a:r>
              <a:rPr lang="en-US" sz="1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 THI KIEU TRANG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82591" y="8920974"/>
            <a:ext cx="2868747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9"/>
              </a:lnSpc>
            </a:pPr>
            <a:r>
              <a:rPr lang="en-US" sz="1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QUACH HUU NAM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44595" y="8853028"/>
            <a:ext cx="2868747" cy="37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7101" y="4421381"/>
            <a:ext cx="5402508" cy="540250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79517" y="0"/>
            <a:ext cx="6308483" cy="10287000"/>
            <a:chOff x="0" y="0"/>
            <a:chExt cx="166149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1661493" cy="2823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3539" y="5696948"/>
            <a:ext cx="969409" cy="96940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85626" y="5696948"/>
            <a:ext cx="969409" cy="96940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3539" y="7122635"/>
            <a:ext cx="969409" cy="96940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85626" y="7122635"/>
            <a:ext cx="969409" cy="96940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3539" y="8548322"/>
            <a:ext cx="969409" cy="96940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85626" y="8548322"/>
            <a:ext cx="969409" cy="96940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894115" y="1849733"/>
            <a:ext cx="6008511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1027734" y="1849733"/>
            <a:ext cx="6259025" cy="6259025"/>
          </a:xfrm>
          <a:custGeom>
            <a:avLst/>
            <a:gdLst/>
            <a:ahLst/>
            <a:cxnLst/>
            <a:rect l="l" t="t" r="r" b="b"/>
            <a:pathLst>
              <a:path w="6259025" h="6259025">
                <a:moveTo>
                  <a:pt x="0" y="0"/>
                </a:moveTo>
                <a:lnTo>
                  <a:pt x="6259026" y="0"/>
                </a:lnTo>
                <a:lnTo>
                  <a:pt x="6259026" y="6259025"/>
                </a:lnTo>
                <a:lnTo>
                  <a:pt x="0" y="6259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44489" y="769598"/>
            <a:ext cx="7158103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91095" y="5918127"/>
            <a:ext cx="361455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13181" y="5918127"/>
            <a:ext cx="361455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C4 model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91095" y="7132882"/>
            <a:ext cx="4094532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Microservices Architecture.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13181" y="7343814"/>
            <a:ext cx="361455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Verification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91095" y="8769501"/>
            <a:ext cx="361455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case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13181" y="8769501"/>
            <a:ext cx="361455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2231" y="2224768"/>
            <a:ext cx="9926832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develops an Academic Management System using a microservices architecture to manage students, courses, and grades.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focuses on modular design and scalable service-based communication.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08483" cy="10287000"/>
            <a:chOff x="0" y="0"/>
            <a:chExt cx="16614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6614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1713305"/>
            <a:ext cx="7168383" cy="7168355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7368148" y="1751405"/>
            <a:ext cx="4351856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1559323"/>
            <a:ext cx="1189176" cy="1137285"/>
          </a:xfrm>
          <a:custGeom>
            <a:avLst/>
            <a:gdLst/>
            <a:ahLst/>
            <a:cxnLst/>
            <a:rect l="l" t="t" r="r" b="b"/>
            <a:pathLst>
              <a:path w="1189176" h="1137285">
                <a:moveTo>
                  <a:pt x="0" y="0"/>
                </a:moveTo>
                <a:lnTo>
                  <a:pt x="1189176" y="0"/>
                </a:lnTo>
                <a:lnTo>
                  <a:pt x="1189176" y="1137285"/>
                </a:lnTo>
                <a:lnTo>
                  <a:pt x="0" y="1137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8881660"/>
            <a:ext cx="715180" cy="7151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EAE4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871011" y="6031106"/>
            <a:ext cx="5402508" cy="540250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368148" y="550545"/>
            <a:ext cx="8168199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8148" y="1975565"/>
            <a:ext cx="10204116" cy="810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System Name: Academic Management System.</a:t>
            </a:r>
          </a:p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Context: Managing credit-based education demands high precision, real-time updates, and the capability to handle high traffic loads during course registration periods.</a:t>
            </a:r>
          </a:p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System Objectives:</a:t>
            </a:r>
          </a:p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Digitization: Digitize the entire workflow, from student and lecturer management to course registration and grade entry.</a:t>
            </a:r>
          </a:p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Transparency: Ensure information transparency, allowing students to track their academic progress (GPA/CPA) instantly.</a:t>
            </a:r>
          </a:p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Automation: Automate grade calculations, academic warning assessments, and notification dispatching.</a:t>
            </a:r>
          </a:p>
          <a:p>
            <a:pPr algn="just">
              <a:lnSpc>
                <a:spcPts val="4576"/>
              </a:lnSpc>
            </a:pPr>
            <a:r>
              <a:rPr lang="en-US" sz="2600" spc="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Scope: Administrator, Lecturer, and Student Modules.</a:t>
            </a:r>
          </a:p>
          <a:p>
            <a:pPr algn="just">
              <a:lnSpc>
                <a:spcPts val="4576"/>
              </a:lnSpc>
            </a:pPr>
            <a:endParaRPr lang="en-US" sz="2600" spc="10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ts val="4576"/>
              </a:lnSpc>
            </a:pPr>
            <a:endParaRPr lang="en-US" sz="2600" spc="10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717668" cy="10287000"/>
            <a:chOff x="0" y="0"/>
            <a:chExt cx="203263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2637" cy="2709333"/>
            </a:xfrm>
            <a:custGeom>
              <a:avLst/>
              <a:gdLst/>
              <a:ahLst/>
              <a:cxnLst/>
              <a:rect l="l" t="t" r="r" b="b"/>
              <a:pathLst>
                <a:path w="2032637" h="2709333">
                  <a:moveTo>
                    <a:pt x="0" y="0"/>
                  </a:moveTo>
                  <a:lnTo>
                    <a:pt x="2032637" y="0"/>
                  </a:lnTo>
                  <a:lnTo>
                    <a:pt x="20326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32637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275248" y="1378348"/>
            <a:ext cx="4351856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8881660"/>
            <a:ext cx="715180" cy="7151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EAE4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871011" y="6031106"/>
            <a:ext cx="5402508" cy="540250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17668" y="696047"/>
            <a:ext cx="10570332" cy="9002354"/>
          </a:xfrm>
          <a:custGeom>
            <a:avLst/>
            <a:gdLst/>
            <a:ahLst/>
            <a:cxnLst/>
            <a:rect l="l" t="t" r="r" b="b"/>
            <a:pathLst>
              <a:path w="10570332" h="9002354">
                <a:moveTo>
                  <a:pt x="0" y="0"/>
                </a:moveTo>
                <a:lnTo>
                  <a:pt x="10570332" y="0"/>
                </a:lnTo>
                <a:lnTo>
                  <a:pt x="10570332" y="9002354"/>
                </a:lnTo>
                <a:lnTo>
                  <a:pt x="0" y="9002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75248" y="393463"/>
            <a:ext cx="7442421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248" y="4144267"/>
            <a:ext cx="7244827" cy="195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3600" b="1" spc="144">
                <a:solidFill>
                  <a:srgbClr val="F6F6F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Functional Requirements</a:t>
            </a:r>
          </a:p>
          <a:p>
            <a:pPr algn="just">
              <a:lnSpc>
                <a:spcPts val="4927"/>
              </a:lnSpc>
            </a:pPr>
            <a:endParaRPr lang="en-US" sz="3600" b="1" spc="144">
              <a:solidFill>
                <a:srgbClr val="F6F6F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0" lvl="0" indent="0" algn="just">
              <a:lnSpc>
                <a:spcPts val="4224"/>
              </a:lnSpc>
            </a:pPr>
            <a:endParaRPr lang="en-US" sz="3600" b="1" spc="144">
              <a:solidFill>
                <a:srgbClr val="F6F6F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08483" cy="10287000"/>
            <a:chOff x="0" y="0"/>
            <a:chExt cx="16614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6614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87502" y="1713305"/>
            <a:ext cx="7168383" cy="7168355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7368148" y="1751405"/>
            <a:ext cx="4351856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1559323"/>
            <a:ext cx="1189176" cy="1137285"/>
          </a:xfrm>
          <a:custGeom>
            <a:avLst/>
            <a:gdLst/>
            <a:ahLst/>
            <a:cxnLst/>
            <a:rect l="l" t="t" r="r" b="b"/>
            <a:pathLst>
              <a:path w="1189176" h="1137285">
                <a:moveTo>
                  <a:pt x="0" y="0"/>
                </a:moveTo>
                <a:lnTo>
                  <a:pt x="1189176" y="0"/>
                </a:lnTo>
                <a:lnTo>
                  <a:pt x="1189176" y="1137285"/>
                </a:lnTo>
                <a:lnTo>
                  <a:pt x="0" y="1137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028700" y="8881660"/>
            <a:ext cx="715180" cy="7151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EAE4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871011" y="6031106"/>
            <a:ext cx="5402508" cy="540250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368148" y="550545"/>
            <a:ext cx="8168199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8148" y="1732355"/>
            <a:ext cx="10204116" cy="8059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2"/>
              </a:lnSpc>
            </a:pPr>
            <a:r>
              <a:rPr lang="en-US" sz="3200" b="1" spc="1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Architectural Goals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2s for read operations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3s for write operations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500–1000 concurrent users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Authentication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Control (RBAC)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99% uptime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isolation</a:t>
            </a:r>
          </a:p>
          <a:p>
            <a:pPr marL="0" lvl="0" indent="0" algn="just">
              <a:lnSpc>
                <a:spcPts val="4224"/>
              </a:lnSpc>
            </a:pPr>
            <a:endParaRPr lang="en-US" sz="2799" spc="1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19342" y="-107723"/>
            <a:ext cx="5017805" cy="10287000"/>
            <a:chOff x="0" y="0"/>
            <a:chExt cx="132156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21562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9151339"/>
            <a:ext cx="1028700" cy="1135661"/>
            <a:chOff x="0" y="0"/>
            <a:chExt cx="270933" cy="299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99104"/>
            </a:xfrm>
            <a:custGeom>
              <a:avLst/>
              <a:gdLst/>
              <a:ahLst/>
              <a:cxnLst/>
              <a:rect l="l" t="t" r="r" b="b"/>
              <a:pathLst>
                <a:path w="270933" h="299104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70933" cy="365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66642" y="0"/>
            <a:ext cx="1028700" cy="1135661"/>
            <a:chOff x="0" y="0"/>
            <a:chExt cx="270933" cy="2991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33" cy="299104"/>
            </a:xfrm>
            <a:custGeom>
              <a:avLst/>
              <a:gdLst/>
              <a:ahLst/>
              <a:cxnLst/>
              <a:rect l="l" t="t" r="r" b="b"/>
              <a:pathLst>
                <a:path w="270933" h="299104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70933" cy="365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68930" y="-1565593"/>
            <a:ext cx="5402508" cy="540250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6136" y="728260"/>
            <a:ext cx="9837942" cy="176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MICROSERVICES ARCHITECTURE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63711" y="567831"/>
            <a:ext cx="0" cy="144201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0554078" y="1215940"/>
            <a:ext cx="715180" cy="7151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9012718" y="2534840"/>
            <a:ext cx="9275282" cy="5739081"/>
          </a:xfrm>
          <a:custGeom>
            <a:avLst/>
            <a:gdLst/>
            <a:ahLst/>
            <a:cxnLst/>
            <a:rect l="l" t="t" r="r" b="b"/>
            <a:pathLst>
              <a:path w="9275282" h="5739081">
                <a:moveTo>
                  <a:pt x="0" y="0"/>
                </a:moveTo>
                <a:lnTo>
                  <a:pt x="9275282" y="0"/>
                </a:lnTo>
                <a:lnTo>
                  <a:pt x="9275282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363711" y="2729481"/>
            <a:ext cx="8527787" cy="5544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Services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Identity Service – Authentication &amp; Authorization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Student Service – Student information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Course Service – Course management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Enrollment Service – Course registration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Grade Service – Grading &amp; GPA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Email Service – Asynchronous notifications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service runs on a separate port</a:t>
            </a:r>
          </a:p>
          <a:p>
            <a:pPr marL="0" lvl="0" indent="0" algn="just">
              <a:lnSpc>
                <a:spcPts val="4927"/>
              </a:lnSpc>
            </a:pPr>
            <a:endParaRPr lang="en-US" sz="2799" spc="1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3048" y="-912528"/>
            <a:ext cx="3803190" cy="38031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70933" cy="337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14350" y="1377628"/>
            <a:ext cx="8677025" cy="8395022"/>
          </a:xfrm>
          <a:custGeom>
            <a:avLst/>
            <a:gdLst/>
            <a:ahLst/>
            <a:cxnLst/>
            <a:rect l="l" t="t" r="r" b="b"/>
            <a:pathLst>
              <a:path w="8677025" h="8395022">
                <a:moveTo>
                  <a:pt x="0" y="0"/>
                </a:moveTo>
                <a:lnTo>
                  <a:pt x="8677025" y="0"/>
                </a:lnTo>
                <a:lnTo>
                  <a:pt x="8677025" y="8395022"/>
                </a:lnTo>
                <a:lnTo>
                  <a:pt x="0" y="8395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70842" y="550545"/>
            <a:ext cx="6382075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CASE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82220" y="1751711"/>
            <a:ext cx="7483801" cy="802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Actors &amp; Use Cases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Administrator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academic structure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&amp; export reports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Lecturer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 grades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Lock grade sheets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Student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courses</a:t>
            </a:r>
          </a:p>
          <a:p>
            <a:pPr marL="1209039" lvl="2" indent="-403013" algn="just">
              <a:lnSpc>
                <a:spcPts val="4927"/>
              </a:lnSpc>
              <a:buFont typeface="Arial"/>
              <a:buChar char="⚬"/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grades &amp; GPA</a:t>
            </a:r>
          </a:p>
          <a:p>
            <a:pPr algn="just">
              <a:lnSpc>
                <a:spcPts val="4927"/>
              </a:lnSpc>
            </a:pPr>
            <a:r>
              <a:rPr lang="en-US" sz="2799" spc="1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 focus on architecturally significant interactions</a:t>
            </a:r>
          </a:p>
          <a:p>
            <a:pPr marL="0" lvl="0" indent="0" algn="just">
              <a:lnSpc>
                <a:spcPts val="4927"/>
              </a:lnSpc>
            </a:pPr>
            <a:endParaRPr lang="en-US" sz="2799" spc="1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614" y="0"/>
            <a:ext cx="17509386" cy="1563219"/>
            <a:chOff x="0" y="0"/>
            <a:chExt cx="4611525" cy="411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1525" cy="411712"/>
            </a:xfrm>
            <a:custGeom>
              <a:avLst/>
              <a:gdLst/>
              <a:ahLst/>
              <a:cxnLst/>
              <a:rect l="l" t="t" r="r" b="b"/>
              <a:pathLst>
                <a:path w="4611525" h="411712">
                  <a:moveTo>
                    <a:pt x="0" y="0"/>
                  </a:moveTo>
                  <a:lnTo>
                    <a:pt x="4611525" y="0"/>
                  </a:lnTo>
                  <a:lnTo>
                    <a:pt x="4611525" y="411712"/>
                  </a:lnTo>
                  <a:lnTo>
                    <a:pt x="0" y="411712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611525" cy="478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90247"/>
            <a:ext cx="778614" cy="1496753"/>
            <a:chOff x="0" y="0"/>
            <a:chExt cx="205067" cy="394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067" cy="394207"/>
            </a:xfrm>
            <a:custGeom>
              <a:avLst/>
              <a:gdLst/>
              <a:ahLst/>
              <a:cxnLst/>
              <a:rect l="l" t="t" r="r" b="b"/>
              <a:pathLst>
                <a:path w="205067" h="394207">
                  <a:moveTo>
                    <a:pt x="0" y="0"/>
                  </a:moveTo>
                  <a:lnTo>
                    <a:pt x="205067" y="0"/>
                  </a:lnTo>
                  <a:lnTo>
                    <a:pt x="205067" y="394207"/>
                  </a:lnTo>
                  <a:lnTo>
                    <a:pt x="0" y="39420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5067" cy="4608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028700" y="1247293"/>
            <a:ext cx="1858299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357705" y="7637029"/>
            <a:ext cx="4136867" cy="41368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144000" y="3002065"/>
            <a:ext cx="8970216" cy="5775345"/>
          </a:xfrm>
          <a:custGeom>
            <a:avLst/>
            <a:gdLst/>
            <a:ahLst/>
            <a:cxnLst/>
            <a:rect l="l" t="t" r="r" b="b"/>
            <a:pathLst>
              <a:path w="8970216" h="5775345">
                <a:moveTo>
                  <a:pt x="0" y="0"/>
                </a:moveTo>
                <a:lnTo>
                  <a:pt x="8970216" y="0"/>
                </a:lnTo>
                <a:lnTo>
                  <a:pt x="8970216" y="5775345"/>
                </a:lnTo>
                <a:lnTo>
                  <a:pt x="0" y="5775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86208"/>
            <a:ext cx="6543494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C4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1220" y="62155"/>
            <a:ext cx="11136780" cy="137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CONTEXT</a:t>
            </a:r>
          </a:p>
          <a:p>
            <a:pPr marL="0" lvl="0" indent="0"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INTERACT WITH THE ACADEMIC MANAGEMENT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9307" y="2534514"/>
            <a:ext cx="9144000" cy="590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Objective: Define the system scope and boundaries.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Central System: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Management System: Handles all core business operations (Student, course, and grade management).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Actors: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Student, Lecturer, Administrator: Interact directly with the system to perform business tasks.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External Systems: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Email/Notification Service: An independent system responsible for sending notifications (grades, schedules) to users.</a:t>
            </a:r>
          </a:p>
          <a:p>
            <a:pPr algn="l">
              <a:lnSpc>
                <a:spcPts val="3757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614" y="0"/>
            <a:ext cx="17509386" cy="2066259"/>
            <a:chOff x="0" y="0"/>
            <a:chExt cx="4611525" cy="54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1525" cy="544200"/>
            </a:xfrm>
            <a:custGeom>
              <a:avLst/>
              <a:gdLst/>
              <a:ahLst/>
              <a:cxnLst/>
              <a:rect l="l" t="t" r="r" b="b"/>
              <a:pathLst>
                <a:path w="4611525" h="544200">
                  <a:moveTo>
                    <a:pt x="0" y="0"/>
                  </a:moveTo>
                  <a:lnTo>
                    <a:pt x="4611525" y="0"/>
                  </a:lnTo>
                  <a:lnTo>
                    <a:pt x="4611525" y="544200"/>
                  </a:lnTo>
                  <a:lnTo>
                    <a:pt x="0" y="544200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611525" cy="61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90247"/>
            <a:ext cx="778614" cy="1496753"/>
            <a:chOff x="0" y="0"/>
            <a:chExt cx="205067" cy="394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067" cy="394207"/>
            </a:xfrm>
            <a:custGeom>
              <a:avLst/>
              <a:gdLst/>
              <a:ahLst/>
              <a:cxnLst/>
              <a:rect l="l" t="t" r="r" b="b"/>
              <a:pathLst>
                <a:path w="205067" h="394207">
                  <a:moveTo>
                    <a:pt x="0" y="0"/>
                  </a:moveTo>
                  <a:lnTo>
                    <a:pt x="205067" y="0"/>
                  </a:lnTo>
                  <a:lnTo>
                    <a:pt x="205067" y="394207"/>
                  </a:lnTo>
                  <a:lnTo>
                    <a:pt x="0" y="39420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5067" cy="4608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028700" y="1247293"/>
            <a:ext cx="1858299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357705" y="7637029"/>
            <a:ext cx="4136867" cy="41368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957160" y="3196397"/>
            <a:ext cx="9157056" cy="5757499"/>
          </a:xfrm>
          <a:custGeom>
            <a:avLst/>
            <a:gdLst/>
            <a:ahLst/>
            <a:cxnLst/>
            <a:rect l="l" t="t" r="r" b="b"/>
            <a:pathLst>
              <a:path w="9157056" h="5757499">
                <a:moveTo>
                  <a:pt x="0" y="0"/>
                </a:moveTo>
                <a:lnTo>
                  <a:pt x="9157056" y="0"/>
                </a:lnTo>
                <a:lnTo>
                  <a:pt x="9157056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86208"/>
            <a:ext cx="6543494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C4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57160" y="32538"/>
            <a:ext cx="8302140" cy="22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CONTAINER</a:t>
            </a:r>
          </a:p>
          <a:p>
            <a:pPr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FRONTEND (VANILLA JS)</a:t>
            </a:r>
          </a:p>
          <a:p>
            <a:pPr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MULTIPLE BACKEND MICROSERVICES</a:t>
            </a:r>
          </a:p>
          <a:p>
            <a:pPr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SHARED MYSQL DATABASE</a:t>
            </a:r>
          </a:p>
          <a:p>
            <a:pPr marL="0" lvl="0" indent="0" algn="l">
              <a:lnSpc>
                <a:spcPts val="3639"/>
              </a:lnSpc>
            </a:pPr>
            <a:endParaRPr lang="en-US" sz="2599" b="1" spc="192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9914" y="2798810"/>
            <a:ext cx="8417246" cy="650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Architecture: Microservices.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Core Technologies: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Web Application (HTML/JS) consuming REST APIs.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Python (Flask) decomposed into independent microservices (Identity, Course, Enrollment, etc.).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MySQL (Implementing the Database-per-Service pattern - Each service has a dedicated database).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Processing Flow: Web App =&gt;  API Gateway =&gt;  Specific Microservice =&gt; Dedicated Database.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614" y="0"/>
            <a:ext cx="17509386" cy="1563219"/>
            <a:chOff x="0" y="0"/>
            <a:chExt cx="4611525" cy="411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11525" cy="411712"/>
            </a:xfrm>
            <a:custGeom>
              <a:avLst/>
              <a:gdLst/>
              <a:ahLst/>
              <a:cxnLst/>
              <a:rect l="l" t="t" r="r" b="b"/>
              <a:pathLst>
                <a:path w="4611525" h="411712">
                  <a:moveTo>
                    <a:pt x="0" y="0"/>
                  </a:moveTo>
                  <a:lnTo>
                    <a:pt x="4611525" y="0"/>
                  </a:lnTo>
                  <a:lnTo>
                    <a:pt x="4611525" y="411712"/>
                  </a:lnTo>
                  <a:lnTo>
                    <a:pt x="0" y="411712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611525" cy="478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790247"/>
            <a:ext cx="778614" cy="1496753"/>
            <a:chOff x="0" y="0"/>
            <a:chExt cx="205067" cy="394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067" cy="394207"/>
            </a:xfrm>
            <a:custGeom>
              <a:avLst/>
              <a:gdLst/>
              <a:ahLst/>
              <a:cxnLst/>
              <a:rect l="l" t="t" r="r" b="b"/>
              <a:pathLst>
                <a:path w="205067" h="394207">
                  <a:moveTo>
                    <a:pt x="0" y="0"/>
                  </a:moveTo>
                  <a:lnTo>
                    <a:pt x="205067" y="0"/>
                  </a:lnTo>
                  <a:lnTo>
                    <a:pt x="205067" y="394207"/>
                  </a:lnTo>
                  <a:lnTo>
                    <a:pt x="0" y="39420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5067" cy="4608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028700" y="1247293"/>
            <a:ext cx="1858299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357705" y="7637029"/>
            <a:ext cx="4136867" cy="41368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81024" y="3554114"/>
            <a:ext cx="9506976" cy="5704186"/>
          </a:xfrm>
          <a:custGeom>
            <a:avLst/>
            <a:gdLst/>
            <a:ahLst/>
            <a:cxnLst/>
            <a:rect l="l" t="t" r="r" b="b"/>
            <a:pathLst>
              <a:path w="9506976" h="570418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86208"/>
            <a:ext cx="6543494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C4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77436" y="239548"/>
            <a:ext cx="11136780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</a:t>
            </a:r>
          </a:p>
          <a:p>
            <a:pPr marL="0" lvl="0" indent="0" algn="l">
              <a:lnSpc>
                <a:spcPts val="3639"/>
              </a:lnSpc>
            </a:pPr>
            <a:r>
              <a:rPr lang="en-US" sz="2599" b="1" spc="19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CONTROLLER, REPOSITORY, MODEL INSIDE EACH 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210435"/>
            <a:ext cx="8026614" cy="704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Objective: Deep dive into the internal structure of a specific service.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Key Components: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Controllers: Request handling entry points (Grade Controller, Transcript Controller).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Logic: Executes complex business logic (e.g., GPA calculation, transcript locking).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Access: Direct interaction with the Grade DB (MySQL).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 Event Bus: Asynchronous mechanism for notification dispatch (Email) to prevent system blocking.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88959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01120" y="2154055"/>
            <a:ext cx="877649" cy="8776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7399" cy="5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810343" cy="117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39945" y="524169"/>
            <a:ext cx="12820134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VERIFICATION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53686" y="2303319"/>
            <a:ext cx="633598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Unit Testing (Model, Repository)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7079" y="3097468"/>
            <a:ext cx="15782221" cy="596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Objective: Test the smallest components within each Microservice to ensure internal logic functions correctly before integration.</a:t>
            </a:r>
          </a:p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Model Testing (models.py):</a:t>
            </a:r>
          </a:p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the initialization of Entities (Student, Course, Grade) and the accurate conversion of data to JSON format (to_dict).</a:t>
            </a:r>
          </a:p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Repository Testing (repository.py):</a:t>
            </a:r>
          </a:p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CRUD operations with MySQL and handle potential errors (connection failures, query errors).</a:t>
            </a:r>
          </a:p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Significance:</a:t>
            </a:r>
          </a:p>
          <a:p>
            <a:pPr algn="just">
              <a:lnSpc>
                <a:spcPts val="433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Facilitates early bug detection and debugging, aligning perfectly with the independent nature of Microservices architecture.</a:t>
            </a:r>
          </a:p>
          <a:p>
            <a:pPr marL="0" lvl="0" indent="0" algn="just">
              <a:lnSpc>
                <a:spcPts val="433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473165" y="644734"/>
            <a:ext cx="715180" cy="71518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88959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9945" y="2154055"/>
            <a:ext cx="877649" cy="8776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7399" cy="5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810343" cy="117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39945" y="524169"/>
            <a:ext cx="13296850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VERIFICATION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25690" y="2321199"/>
            <a:ext cx="883221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 Testing (API, Inter-service)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7594" y="3202502"/>
            <a:ext cx="15481138" cy="57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Objective: Verify the coordination and interaction between internal components and external Microservices via RESTful APIs.</a:t>
            </a:r>
          </a:p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API Testing:</a:t>
            </a:r>
          </a:p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HTTP Requests (GET, POST, PUT, DELETE) to validate that Status Codes and JSON Responses align with design specifications.</a:t>
            </a:r>
          </a:p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Inter-service Testing:</a:t>
            </a:r>
          </a:p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communication flows between Services (e.g., Grade Service $\rightarrow$ Email Service) and verify asynchronous processing logic.</a:t>
            </a:r>
          </a:p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Significance:</a:t>
            </a:r>
          </a:p>
          <a:p>
            <a:pPr algn="just">
              <a:lnSpc>
                <a:spcPts val="418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accurate service integration and stable communication within the distributed Microservices architecture.</a:t>
            </a:r>
          </a:p>
          <a:p>
            <a:pPr marL="0" lvl="0" indent="0" algn="just">
              <a:lnSpc>
                <a:spcPts val="4184"/>
              </a:lnSpc>
            </a:pPr>
            <a:endParaRPr lang="en-US" sz="26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421615" y="671110"/>
            <a:ext cx="715180" cy="71518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88959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9945" y="2357890"/>
            <a:ext cx="877649" cy="87764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17726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7399" cy="5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810343" cy="117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39945" y="524169"/>
            <a:ext cx="12343419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VERIFICATION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25690" y="2507154"/>
            <a:ext cx="633598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Tools: Postman, cURL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73125" y="3330806"/>
            <a:ext cx="15656770" cy="627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Postman: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test the system's RESTful APIs by sending HTTP Requests (GET, POST, PUT, DELETE) and verifying HTTP Status Codes along with the JSON Response structure.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-US" sz="26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cURL</a:t>
            </a: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command-line tool that supports sending HTTP Requests directly from the Terminal, suitable for rapid testing and verifying low-level API behavior.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Application: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Utilized in API Testing and Inter-service Testing between Microservices.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Purpose:</a:t>
            </a:r>
          </a:p>
          <a:p>
            <a:pPr algn="just">
              <a:lnSpc>
                <a:spcPts val="4184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that APIs function correctly according to the design and that communication between Services remains stable within the Microservices architecture.</a:t>
            </a:r>
          </a:p>
          <a:p>
            <a:pPr marL="0" lvl="0" indent="0" algn="just">
              <a:lnSpc>
                <a:spcPts val="4184"/>
              </a:lnSpc>
            </a:pPr>
            <a:endParaRPr lang="en-US" sz="26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47713" y="671110"/>
            <a:ext cx="715180" cy="71518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88959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7399" cy="5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810343" cy="117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39945" y="524169"/>
            <a:ext cx="12343419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VERIFICATION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3400" y="8288569"/>
            <a:ext cx="7705842" cy="5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 Registration Interface (Student View)</a:t>
            </a: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47713" y="671110"/>
            <a:ext cx="715180" cy="71518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2F0CC4-6A45-A22B-A1FC-0E40386F3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2450605"/>
            <a:ext cx="8164788" cy="5420273"/>
          </a:xfrm>
          <a:prstGeom prst="rect">
            <a:avLst/>
          </a:prstGeom>
        </p:spPr>
      </p:pic>
      <p:pic>
        <p:nvPicPr>
          <p:cNvPr id="26" name="Picture 25" descr="A screenshot of a chat&#10;&#10;AI-generated content may be incorrect.">
            <a:extLst>
              <a:ext uri="{FF2B5EF4-FFF2-40B4-BE49-F238E27FC236}">
                <a16:creationId xmlns:a16="http://schemas.microsoft.com/office/drawing/2014/main" id="{E6AF0CF4-BDA2-C692-C098-071936D1C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984" y="3283758"/>
            <a:ext cx="9154565" cy="3612342"/>
          </a:xfrm>
          <a:prstGeom prst="rect">
            <a:avLst/>
          </a:prstGeom>
        </p:spPr>
      </p:pic>
      <p:sp>
        <p:nvSpPr>
          <p:cNvPr id="27" name="TextBox 18">
            <a:extLst>
              <a:ext uri="{FF2B5EF4-FFF2-40B4-BE49-F238E27FC236}">
                <a16:creationId xmlns:a16="http://schemas.microsoft.com/office/drawing/2014/main" id="{ABC07A25-3F5A-97C9-6B0E-11369EB4372B}"/>
              </a:ext>
            </a:extLst>
          </p:cNvPr>
          <p:cNvSpPr txBox="1"/>
          <p:nvPr/>
        </p:nvSpPr>
        <p:spPr>
          <a:xfrm>
            <a:off x="10048760" y="8259181"/>
            <a:ext cx="7705842" cy="109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"Registration Successful" notification on web interface</a:t>
            </a: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  <p:extLst>
      <p:ext uri="{BB962C8B-B14F-4D97-AF65-F5344CB8AC3E}">
        <p14:creationId xmlns:p14="http://schemas.microsoft.com/office/powerpoint/2010/main" val="2696628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610" y="0"/>
            <a:ext cx="5653390" cy="10287000"/>
            <a:chOff x="0" y="0"/>
            <a:chExt cx="148895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8959" cy="2709333"/>
            </a:xfrm>
            <a:custGeom>
              <a:avLst/>
              <a:gdLst/>
              <a:ahLst/>
              <a:cxnLst/>
              <a:rect l="l" t="t" r="r" b="b"/>
              <a:pathLst>
                <a:path w="1488959" h="2709333">
                  <a:moveTo>
                    <a:pt x="0" y="0"/>
                  </a:moveTo>
                  <a:lnTo>
                    <a:pt x="1488959" y="0"/>
                  </a:lnTo>
                  <a:lnTo>
                    <a:pt x="1488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88959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0866" y="0"/>
            <a:ext cx="863406" cy="1914819"/>
            <a:chOff x="0" y="0"/>
            <a:chExt cx="227399" cy="5043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399" cy="504314"/>
            </a:xfrm>
            <a:custGeom>
              <a:avLst/>
              <a:gdLst/>
              <a:ahLst/>
              <a:cxnLst/>
              <a:rect l="l" t="t" r="r" b="b"/>
              <a:pathLst>
                <a:path w="227399" h="504314">
                  <a:moveTo>
                    <a:pt x="0" y="0"/>
                  </a:moveTo>
                  <a:lnTo>
                    <a:pt x="227399" y="0"/>
                  </a:lnTo>
                  <a:lnTo>
                    <a:pt x="227399" y="504314"/>
                  </a:lnTo>
                  <a:lnTo>
                    <a:pt x="0" y="504314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27399" cy="570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061650" y="8036778"/>
            <a:ext cx="3803190" cy="380319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10094695"/>
            <a:ext cx="18264272" cy="192305"/>
            <a:chOff x="0" y="0"/>
            <a:chExt cx="4810343" cy="50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0343" cy="50648"/>
            </a:xfrm>
            <a:custGeom>
              <a:avLst/>
              <a:gdLst/>
              <a:ahLst/>
              <a:cxnLst/>
              <a:rect l="l" t="t" r="r" b="b"/>
              <a:pathLst>
                <a:path w="4810343" h="50648">
                  <a:moveTo>
                    <a:pt x="0" y="0"/>
                  </a:moveTo>
                  <a:lnTo>
                    <a:pt x="4810343" y="0"/>
                  </a:lnTo>
                  <a:lnTo>
                    <a:pt x="4810343" y="50648"/>
                  </a:lnTo>
                  <a:lnTo>
                    <a:pt x="0" y="50648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810343" cy="117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39945" y="524169"/>
            <a:ext cx="12343419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&amp; VERIFICATION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29400" y="8993479"/>
            <a:ext cx="7469779" cy="516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Lecturer's Grade Entry Interface (Lecturer View)</a:t>
            </a: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47713" y="671110"/>
            <a:ext cx="715180" cy="71518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17726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E297EA-3581-6046-0118-9C30550B7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949361"/>
            <a:ext cx="10040671" cy="689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7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64229"/>
            <a:ext cx="18288000" cy="3422771"/>
            <a:chOff x="0" y="0"/>
            <a:chExt cx="4816593" cy="9014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01471"/>
            </a:xfrm>
            <a:custGeom>
              <a:avLst/>
              <a:gdLst/>
              <a:ahLst/>
              <a:cxnLst/>
              <a:rect l="l" t="t" r="r" b="b"/>
              <a:pathLst>
                <a:path w="4816592" h="901471">
                  <a:moveTo>
                    <a:pt x="0" y="0"/>
                  </a:moveTo>
                  <a:lnTo>
                    <a:pt x="4816592" y="0"/>
                  </a:lnTo>
                  <a:lnTo>
                    <a:pt x="4816592" y="901471"/>
                  </a:lnTo>
                  <a:lnTo>
                    <a:pt x="0" y="901471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968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9945" y="2690980"/>
            <a:ext cx="8131775" cy="6801722"/>
            <a:chOff x="0" y="0"/>
            <a:chExt cx="1216493" cy="1017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6493" cy="1017520"/>
            </a:xfrm>
            <a:custGeom>
              <a:avLst/>
              <a:gdLst/>
              <a:ahLst/>
              <a:cxnLst/>
              <a:rect l="l" t="t" r="r" b="b"/>
              <a:pathLst>
                <a:path w="1216493" h="1017520">
                  <a:moveTo>
                    <a:pt x="84733" y="0"/>
                  </a:moveTo>
                  <a:lnTo>
                    <a:pt x="1131760" y="0"/>
                  </a:lnTo>
                  <a:cubicBezTo>
                    <a:pt x="1154232" y="0"/>
                    <a:pt x="1175784" y="8927"/>
                    <a:pt x="1191675" y="24818"/>
                  </a:cubicBezTo>
                  <a:cubicBezTo>
                    <a:pt x="1207565" y="40708"/>
                    <a:pt x="1216493" y="62261"/>
                    <a:pt x="1216493" y="84733"/>
                  </a:cubicBezTo>
                  <a:lnTo>
                    <a:pt x="1216493" y="932787"/>
                  </a:lnTo>
                  <a:cubicBezTo>
                    <a:pt x="1216493" y="979584"/>
                    <a:pt x="1178556" y="1017520"/>
                    <a:pt x="1131760" y="1017520"/>
                  </a:cubicBezTo>
                  <a:lnTo>
                    <a:pt x="84733" y="1017520"/>
                  </a:lnTo>
                  <a:cubicBezTo>
                    <a:pt x="37936" y="1017520"/>
                    <a:pt x="0" y="979584"/>
                    <a:pt x="0" y="932787"/>
                  </a:cubicBezTo>
                  <a:lnTo>
                    <a:pt x="0" y="84733"/>
                  </a:lnTo>
                  <a:cubicBezTo>
                    <a:pt x="0" y="37936"/>
                    <a:pt x="37936" y="0"/>
                    <a:pt x="84733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16493" cy="1055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73283" y="2690980"/>
            <a:ext cx="7872990" cy="6801722"/>
            <a:chOff x="0" y="0"/>
            <a:chExt cx="1177779" cy="1017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7779" cy="1017520"/>
            </a:xfrm>
            <a:custGeom>
              <a:avLst/>
              <a:gdLst/>
              <a:ahLst/>
              <a:cxnLst/>
              <a:rect l="l" t="t" r="r" b="b"/>
              <a:pathLst>
                <a:path w="1177779" h="1017520">
                  <a:moveTo>
                    <a:pt x="87518" y="0"/>
                  </a:moveTo>
                  <a:lnTo>
                    <a:pt x="1090261" y="0"/>
                  </a:lnTo>
                  <a:cubicBezTo>
                    <a:pt x="1138596" y="0"/>
                    <a:pt x="1177779" y="39183"/>
                    <a:pt x="1177779" y="87518"/>
                  </a:cubicBezTo>
                  <a:lnTo>
                    <a:pt x="1177779" y="930002"/>
                  </a:lnTo>
                  <a:cubicBezTo>
                    <a:pt x="1177779" y="953213"/>
                    <a:pt x="1168558" y="975474"/>
                    <a:pt x="1152145" y="991887"/>
                  </a:cubicBezTo>
                  <a:cubicBezTo>
                    <a:pt x="1135733" y="1008300"/>
                    <a:pt x="1113472" y="1017520"/>
                    <a:pt x="1090261" y="1017520"/>
                  </a:cubicBezTo>
                  <a:lnTo>
                    <a:pt x="87518" y="1017520"/>
                  </a:lnTo>
                  <a:cubicBezTo>
                    <a:pt x="64307" y="1017520"/>
                    <a:pt x="42046" y="1008300"/>
                    <a:pt x="25634" y="991887"/>
                  </a:cubicBezTo>
                  <a:cubicBezTo>
                    <a:pt x="9221" y="975474"/>
                    <a:pt x="0" y="953213"/>
                    <a:pt x="0" y="930002"/>
                  </a:cubicBezTo>
                  <a:lnTo>
                    <a:pt x="0" y="87518"/>
                  </a:lnTo>
                  <a:cubicBezTo>
                    <a:pt x="0" y="64307"/>
                    <a:pt x="9221" y="42046"/>
                    <a:pt x="25634" y="25634"/>
                  </a:cubicBezTo>
                  <a:cubicBezTo>
                    <a:pt x="42046" y="9221"/>
                    <a:pt x="64307" y="0"/>
                    <a:pt x="8751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77779" cy="1055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457494"/>
            <a:ext cx="18288000" cy="1495425"/>
            <a:chOff x="0" y="0"/>
            <a:chExt cx="4816593" cy="393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393857"/>
            </a:xfrm>
            <a:custGeom>
              <a:avLst/>
              <a:gdLst/>
              <a:ahLst/>
              <a:cxnLst/>
              <a:rect l="l" t="t" r="r" b="b"/>
              <a:pathLst>
                <a:path w="4816592" h="393857">
                  <a:moveTo>
                    <a:pt x="0" y="0"/>
                  </a:moveTo>
                  <a:lnTo>
                    <a:pt x="4816592" y="0"/>
                  </a:lnTo>
                  <a:lnTo>
                    <a:pt x="4816592" y="393857"/>
                  </a:lnTo>
                  <a:lnTo>
                    <a:pt x="0" y="393857"/>
                  </a:lnTo>
                  <a:close/>
                </a:path>
              </a:pathLst>
            </a:custGeom>
            <a:solidFill>
              <a:srgbClr val="1772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816593" cy="460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20670" y="3077178"/>
            <a:ext cx="7545957" cy="546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Lessons Learned</a:t>
            </a:r>
          </a:p>
          <a:p>
            <a:pPr algn="ctr">
              <a:lnSpc>
                <a:spcPts val="3914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Microservices Trade-offs: Understood the balance between Scalability and Complexity.</a:t>
            </a: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Distributed Systems: Mastered Data Consistency, Fault Tolerance, and Database-per-Service patterns.</a:t>
            </a: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Critical Priorities: Security (JWT, RBAC) and Performance are core design pillars.</a:t>
            </a: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Standardization: Importance of clear API Contracts for effective teamwork.</a:t>
            </a:r>
          </a:p>
          <a:p>
            <a:pPr marL="0" lvl="0" indent="0" algn="ctr">
              <a:lnSpc>
                <a:spcPts val="3914"/>
              </a:lnSpc>
            </a:pPr>
            <a:endParaRPr lang="en-US" sz="26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59174" y="3077178"/>
            <a:ext cx="7101208" cy="546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algn="ctr">
              <a:lnSpc>
                <a:spcPts val="3914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Architecture: Adopt Message Brokers (RabbitMQ/Kafka) for robust async processing.</a:t>
            </a: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DevOps: Implement Docker &amp; Kubernetes for auto-scaling and deployment.</a:t>
            </a: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Observability: Deploy centralized monitoring (Prometheus, Grafana).</a:t>
            </a:r>
          </a:p>
          <a:p>
            <a:pPr algn="l">
              <a:lnSpc>
                <a:spcPts val="3914"/>
              </a:lnSpc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Expansion: Integrate Online Payments and connect with external LMS.</a:t>
            </a:r>
          </a:p>
          <a:p>
            <a:pPr marL="0" lvl="0" indent="0" algn="ctr">
              <a:lnSpc>
                <a:spcPts val="3914"/>
              </a:lnSpc>
            </a:pPr>
            <a:endParaRPr lang="en-US" sz="26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39945" y="727051"/>
            <a:ext cx="8147912" cy="102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02759" y="6802807"/>
            <a:ext cx="5402508" cy="540250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74658" y="8563446"/>
            <a:ext cx="16138684" cy="0"/>
          </a:xfrm>
          <a:prstGeom prst="line">
            <a:avLst/>
          </a:prstGeom>
          <a:ln w="38100" cap="flat">
            <a:solidFill>
              <a:srgbClr val="1772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785978" y="1231643"/>
            <a:ext cx="4758515" cy="475851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99248" y="3315625"/>
            <a:ext cx="14166687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>
                <a:solidFill>
                  <a:srgbClr val="17726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4658" y="8920974"/>
            <a:ext cx="2012164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9"/>
              </a:lnSpc>
            </a:pPr>
            <a:r>
              <a:rPr lang="en-US" sz="1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TRIEU TIEN QUYNH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9734" y="8920974"/>
            <a:ext cx="2725663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9"/>
              </a:lnSpc>
            </a:pPr>
            <a:r>
              <a:rPr lang="en-US" sz="1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 THI KIEU TRANG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82591" y="8920974"/>
            <a:ext cx="2868747" cy="30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79"/>
              </a:lnSpc>
            </a:pPr>
            <a:r>
              <a:rPr lang="en-US" sz="1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QUACH HUU NAM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44595" y="8853028"/>
            <a:ext cx="2868747" cy="37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99"/>
              </a:lnSpc>
            </a:pPr>
            <a:r>
              <a:rPr lang="en-US" sz="1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05/02/2026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1037</Words>
  <Application>Microsoft Office PowerPoint</Application>
  <PresentationFormat>Custom</PresentationFormat>
  <Paragraphs>148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 Bold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KTPM</dc:title>
  <cp:lastModifiedBy>Le Thi Kieu Trang</cp:lastModifiedBy>
  <cp:revision>1</cp:revision>
  <dcterms:created xsi:type="dcterms:W3CDTF">2006-08-16T00:00:00Z</dcterms:created>
  <dcterms:modified xsi:type="dcterms:W3CDTF">2026-02-05T04:48:12Z</dcterms:modified>
  <dc:identifier>DAG_xxNB2Aw</dc:identifier>
</cp:coreProperties>
</file>